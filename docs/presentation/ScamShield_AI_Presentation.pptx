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29D8C8"/>
          </a:solidFill>
          <a:ln/>
        </p:spPr>
      </p:sp>
      <p:pic>
        <p:nvPicPr>
          <p:cNvPr id="3" name="Image 0" descr="/home/claude/pptx_build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1078992"/>
            <a:ext cx="1042416" cy="1042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51460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ScamShield AI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1508760" y="3383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Digital Public Safety — Defeating Counterfeiting, Fraud &amp; Digital Arrest Scams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40690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Times AI Hackathon 2.0  ·  Phase 2  ·  Problem Statement PS6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a 2nd Year B.Tech CSE (Data Science) Student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fraud is evolving faster than public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rgbClr val="F0505A"/>
          </a:solidFill>
          <a:ln/>
        </p:spPr>
      </p:sp>
      <p:pic>
        <p:nvPicPr>
          <p:cNvPr id="6" name="Image 0" descr="/home/claude/pptx_build/icons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201899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Scams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impersonate CBI/police on video calls, coercing panicked victims into transferring money.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20240"/>
            <a:ext cx="822960" cy="82296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1" name="Image 1" descr="/home/claude/pptx_build/icons/envel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475" y="2018995"/>
            <a:ext cx="625450" cy="625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Email Phishing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342900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KYC, lottery, and refund messages trick users into clicking malicious links.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20440" cy="4206240"/>
          </a:xfrm>
          <a:prstGeom prst="roundRect">
            <a:avLst>
              <a:gd name="adj" fmla="val 2338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20240"/>
            <a:ext cx="822960" cy="822960"/>
          </a:xfrm>
          <a:prstGeom prst="ellipse">
            <a:avLst/>
          </a:prstGeom>
          <a:solidFill>
            <a:srgbClr val="29D8C8"/>
          </a:solidFill>
          <a:ln/>
        </p:spPr>
      </p:sp>
      <p:pic>
        <p:nvPicPr>
          <p:cNvPr id="16" name="Image 2" descr="/home/claude/pptx_build/icons/qr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018995"/>
            <a:ext cx="625450" cy="625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8803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UPI / QR Fraud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12480" y="342900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are misled into believing a QR scan can 'receive' money — it can only send it.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 (RBI, I4C) have issued repeated public advisories — but citizens still lack a fast, free way to verify a suspicious message before acting on it.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ScamShield AI set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5" name="Image 0" descr="/home/claude/pptx_build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176296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1848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SMS / Email / URL content as Safe, Suspicious, or Fraud using ML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69164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8" name="Image 1" descr="/home/claude/pptx_build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243" y="1762963"/>
            <a:ext cx="451714" cy="451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161848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AI verdict explainable — show the exact reasons, not a black box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1" name="Image 2" descr="/home/claude/pptx_build/icons/user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3180283"/>
            <a:ext cx="451714" cy="4517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0358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dedicated detector for Digital Arrest scam patterns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310896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4" name="Image 3" descr="/home/claude/pptx_build/icons/qr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243" y="3180283"/>
            <a:ext cx="451714" cy="4517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95160" y="30358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UPI IDs and educate users on QR code fraud myths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7" name="Image 4" descr="/home/claude/pptx_build/icons/bullho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" y="4597603"/>
            <a:ext cx="451714" cy="45171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445312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report scams to build a community fraud database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217920" y="452628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20" name="Image 5" descr="/home/claude/pptx_build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9243" y="4597603"/>
            <a:ext cx="451714" cy="45171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95160" y="445312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users a personal dashboard and admins a monitoring panel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every major fraud vector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777240" cy="777240"/>
          </a:xfrm>
          <a:prstGeom prst="ellipse">
            <a:avLst/>
          </a:prstGeom>
          <a:solidFill>
            <a:srgbClr val="29D8C8"/>
          </a:solidFill>
          <a:ln/>
        </p:spPr>
      </p:sp>
      <p:pic>
        <p:nvPicPr>
          <p:cNvPr id="6" name="Image 0" descr="/home/claude/pptx_build/icons/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86661"/>
            <a:ext cx="590702" cy="590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926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&amp; Email Detector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37560" y="173736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93592" y="1993392"/>
            <a:ext cx="777240" cy="777240"/>
          </a:xfrm>
          <a:prstGeom prst="ellipse">
            <a:avLst/>
          </a:prstGeom>
          <a:solidFill>
            <a:srgbClr val="29D8C8"/>
          </a:solidFill>
          <a:ln/>
        </p:spPr>
      </p:sp>
      <p:pic>
        <p:nvPicPr>
          <p:cNvPr id="10" name="Image 1" descr="/home/claude/pptx_build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2086661"/>
            <a:ext cx="590702" cy="5907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926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URL Scanner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73736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82512" y="1993392"/>
            <a:ext cx="777240" cy="777240"/>
          </a:xfrm>
          <a:prstGeom prst="ellipse">
            <a:avLst/>
          </a:prstGeom>
          <a:solidFill>
            <a:srgbClr val="F0505A"/>
          </a:solidFill>
          <a:ln/>
        </p:spPr>
      </p:sp>
      <p:pic>
        <p:nvPicPr>
          <p:cNvPr id="14" name="Image 2" descr="/home/claude/pptx_build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781" y="2086661"/>
            <a:ext cx="590702" cy="5907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2926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Shield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915400" y="173736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171432" y="1993392"/>
            <a:ext cx="777240" cy="7772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8" name="Image 3" descr="/home/claude/pptx_build/icons/qr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4701" y="2086661"/>
            <a:ext cx="590702" cy="5907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098280" y="292608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&amp; QR Awareness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97764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4672" y="4233672"/>
            <a:ext cx="777240" cy="7772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2" name="Image 4" descr="/home/claude/pptx_build/icons/bullho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326941"/>
            <a:ext cx="590702" cy="59070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" y="5166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Reporting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3337560" y="397764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593592" y="4233672"/>
            <a:ext cx="777240" cy="777240"/>
          </a:xfrm>
          <a:prstGeom prst="ellipse">
            <a:avLst/>
          </a:prstGeom>
          <a:solidFill>
            <a:srgbClr val="29D8C8"/>
          </a:solidFill>
          <a:ln/>
        </p:spPr>
      </p:sp>
      <p:pic>
        <p:nvPicPr>
          <p:cNvPr id="26" name="Image 5" descr="/home/claude/pptx_build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861" y="4326941"/>
            <a:ext cx="590702" cy="59070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520440" y="5166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Dashboard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126480" y="397764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382512" y="4233672"/>
            <a:ext cx="777240" cy="777240"/>
          </a:xfrm>
          <a:prstGeom prst="ellipse">
            <a:avLst/>
          </a:prstGeom>
          <a:solidFill>
            <a:srgbClr val="9AA7BD"/>
          </a:solidFill>
          <a:ln/>
        </p:spPr>
      </p:sp>
      <p:pic>
        <p:nvPicPr>
          <p:cNvPr id="30" name="Image 6" descr="/home/claude/pptx_build/icons/user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781" y="4326941"/>
            <a:ext cx="590702" cy="59070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309360" y="5166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8915400" y="3977640"/>
            <a:ext cx="2560320" cy="1965960"/>
          </a:xfrm>
          <a:prstGeom prst="roundRect">
            <a:avLst>
              <a:gd name="adj" fmla="val 4186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9171432" y="4233672"/>
            <a:ext cx="777240" cy="7772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34" name="Image 7" descr="/home/claude/pptx_build/icons/clipbo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4701" y="4326941"/>
            <a:ext cx="590702" cy="59070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098280" y="516636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Tips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/home/claude/scamshield-ai/docs/diagrams/architectur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417320"/>
            <a:ext cx="1051560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685800" cy="68580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6" name="Image 0" descr="/home/claude/pptx_build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947672"/>
            <a:ext cx="685800" cy="68580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1" name="Image 1" descr="/home/claude/pptx_build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029968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947672"/>
            <a:ext cx="685800" cy="68580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6" name="Image 2" descr="/home/claude/pptx_build/icons/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029968"/>
            <a:ext cx="521208" cy="5212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94192" y="3108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TF-IDF + Logistic Regression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279392"/>
            <a:ext cx="685800" cy="68580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21" name="Image 3" descr="/home/claude/pptx_build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61688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074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440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(default) · MySQL (optional)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402336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279392"/>
            <a:ext cx="685800" cy="68580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26" name="Image 4" descr="/home/claude/pptx_build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4361688"/>
            <a:ext cx="521208" cy="5212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5074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9432" y="5440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520440" cy="2057400"/>
          </a:xfrm>
          <a:prstGeom prst="roundRect">
            <a:avLst>
              <a:gd name="adj" fmla="val 4000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279392"/>
            <a:ext cx="685800" cy="68580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31" name="Image 5" descr="/home/claude/pptx_build/icons/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361688"/>
            <a:ext cx="521208" cy="5212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5074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94192" y="54406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password hashing + sessions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Detection Workflow</a:t>
            </a:r>
            <a:endParaRPr lang="en-US" sz="3000" dirty="0"/>
          </a:p>
        </p:txBody>
      </p:sp>
      <p:pic>
        <p:nvPicPr>
          <p:cNvPr id="4" name="Image 0" descr="/home/claude/scamshield-ai/docs/diagrams/workflow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47120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TRUST THE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by design, not a black box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731520" cy="731520"/>
          </a:xfrm>
          <a:prstGeom prst="ellipse">
            <a:avLst/>
          </a:prstGeom>
          <a:solidFill>
            <a:srgbClr val="29D8C8"/>
          </a:solidFill>
          <a:ln/>
        </p:spPr>
      </p:sp>
      <p:pic>
        <p:nvPicPr>
          <p:cNvPr id="6" name="Image 0" descr="/home/claude/pptx_build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200802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43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verdict comes with reasons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 scores the text, while a curated keyword bank explains exactly which red flags were found — lottery language, urgency, KYC/OTP requests, and more.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"Contains high-risk fraud keywords: kyc, blocked, urgent"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164592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131C2E"/>
          </a:solidFill>
          <a:ln w="12700">
            <a:solidFill>
              <a:srgbClr val="F05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20240"/>
            <a:ext cx="731520" cy="731520"/>
          </a:xfrm>
          <a:prstGeom prst="ellipse">
            <a:avLst/>
          </a:prstGeom>
          <a:solidFill>
            <a:srgbClr val="F0505A"/>
          </a:solidFill>
          <a:ln/>
        </p:spPr>
      </p:sp>
      <p:pic>
        <p:nvPicPr>
          <p:cNvPr id="12" name="Image 1" descr="/home/claude/pptx_build/icons/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742" y="2008022"/>
            <a:ext cx="555955" cy="5559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2743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safety override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7960" y="32461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2+ Digital Arrest patterns are matched (e.g. 'stay on video call', 'CBI officer', 'do not disconnect'), the system force-classifies the input as FRAUD — regardless of the raw ML score.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53796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0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under-flagging this scam type carries severe real-world risk.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 Diagram</a:t>
            </a:r>
            <a:endParaRPr lang="en-US" sz="3000" dirty="0"/>
          </a:p>
        </p:txBody>
      </p:sp>
      <p:pic>
        <p:nvPicPr>
          <p:cNvPr id="4" name="Image 0" descr="/home/claude/scamshield-ai/docs/diagrams/er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371600"/>
            <a:ext cx="10515600" cy="5166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(MVP Dataset)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29D8C8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training samples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2880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Safe / Suspicious / Fraud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7373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55080" y="2880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5-fold CV accuracy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73736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131C2E"/>
          </a:solidFill>
          <a:ln w="12700">
            <a:solidFill>
              <a:srgbClr val="F0505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5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89720" y="28803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include explanation + tips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18520" cy="1920240"/>
          </a:xfrm>
          <a:prstGeom prst="roundRect">
            <a:avLst>
              <a:gd name="adj" fmla="val 4286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43484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uses a small, hand-curated demo dataset appropriate for a hackathon MVP. Accuracy is expected to improve substantially with a larger, real-world labeled dataset (thousands of samples) collected from actual reported scams — a key next step in the Future Scope.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for users and administrators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29D8C8"/>
          </a:solidFill>
          <a:ln/>
        </p:spPr>
      </p:sp>
      <p:pic>
        <p:nvPicPr>
          <p:cNvPr id="6" name="Image 0" descr="/home/claude/pptx_build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2053742"/>
            <a:ext cx="555955" cy="5559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788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Dashboard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scan history (SMS/Email/URL/UPI)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Chart.js breakdown of Safe/Suspicious/Fraud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 to jump into any detector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17920" y="1691640"/>
            <a:ext cx="5394960" cy="4206240"/>
          </a:xfrm>
          <a:prstGeom prst="roundRect">
            <a:avLst>
              <a:gd name="adj" fmla="val 1957"/>
            </a:avLst>
          </a:prstGeom>
          <a:solidFill>
            <a:srgbClr val="131C2E"/>
          </a:solidFill>
          <a:ln w="12700">
            <a:solidFill>
              <a:srgbClr val="1B274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1965960"/>
            <a:ext cx="731520" cy="73152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13" name="Image 1" descr="/home/claude/pptx_build/icons/user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742" y="2053742"/>
            <a:ext cx="555955" cy="55595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37960" y="2788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37960" y="33375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Platform-wide stats: users, scans, fraud detected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537960" y="3840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scam reports table with status triage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53796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Reviewed → Resolved workflow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5" name="Image 0" descr="/home/claude/pptx_build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176296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1848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(LSTM/BERT) on larger real-world datasets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69164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8" name="Image 1" descr="/home/claude/pptx_build/icons/qr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243" y="1762963"/>
            <a:ext cx="451714" cy="4517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95160" y="161848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QR image upload &amp; decode (OpenCV/pyzbar)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310896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1" name="Image 2" descr="/home/claude/pptx_build/icon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" y="3180283"/>
            <a:ext cx="451714" cy="4517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0358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for real-time link scanning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310896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4" name="Image 3" descr="/home/claude/pptx_build/icons/bullhor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9243" y="3180283"/>
            <a:ext cx="451714" cy="4517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95160" y="303580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cybercrime.gov.in reporting API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17" name="Image 4" descr="/home/claude/pptx_build/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" y="4597603"/>
            <a:ext cx="451714" cy="45171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445312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(Hindi &amp; regional languages)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217920" y="4526280"/>
            <a:ext cx="594360" cy="594360"/>
          </a:xfrm>
          <a:prstGeom prst="ellipse">
            <a:avLst/>
          </a:prstGeom>
          <a:solidFill>
            <a:srgbClr val="1B2740"/>
          </a:solidFill>
          <a:ln/>
        </p:spPr>
      </p:sp>
      <p:pic>
        <p:nvPicPr>
          <p:cNvPr id="20" name="Image 5" descr="/home/claude/pptx_build/icons/datab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9243" y="4597603"/>
            <a:ext cx="451714" cy="45171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95160" y="445312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on MySQL/PostgreSQL</a:t>
            </a:r>
            <a:endParaRPr lang="en-US" sz="1300" dirty="0"/>
          </a:p>
        </p:txBody>
      </p:sp>
      <p:sp>
        <p:nvSpPr>
          <p:cNvPr id="22" name="Text 1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822960"/>
            <a:ext cx="1371600" cy="1371600"/>
          </a:xfrm>
          <a:prstGeom prst="ellipse">
            <a:avLst/>
          </a:prstGeom>
          <a:solidFill>
            <a:srgbClr val="29D8C8"/>
          </a:solidFill>
          <a:ln/>
        </p:spPr>
      </p:sp>
      <p:pic>
        <p:nvPicPr>
          <p:cNvPr id="3" name="Image 0" descr="/home/claude/pptx_build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552" y="987552"/>
            <a:ext cx="1042416" cy="10424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42316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0" y="32461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9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ScamShield AI — Catch the scam before it catches you.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37490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Times AI Hackathon 2.0 · Phase 2 · PS6: AI for Digital Public Safety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Crime Helpline: 1930   ·   cybercrime.gov.in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ScamShield AI - ET Hackathon 2.0 PS6</dc:title>
  <dc:subject>PptxGenJS Presentation</dc:subject>
  <dc:creator>B.Tech CSE (Data Science) Student</dc:creator>
  <cp:lastModifiedBy>B.Tech CSE (Data Science) Student</cp:lastModifiedBy>
  <cp:revision>1</cp:revision>
  <dcterms:created xsi:type="dcterms:W3CDTF">2026-07-09T05:31:11Z</dcterms:created>
  <dcterms:modified xsi:type="dcterms:W3CDTF">2026-07-09T05:31:11Z</dcterms:modified>
</cp:coreProperties>
</file>